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552fe1f4414a70" /><Relationship Type="http://schemas.openxmlformats.org/officeDocument/2006/relationships/extended-properties" Target="/docProps/app.xml" Id="R3027cea0ca4343b8" /><Relationship Type="http://schemas.openxmlformats.org/officeDocument/2006/relationships/officeDocument" Target="/ppt/presentation.xml" Id="Rb89c66bfaa6749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ec75136d684e07"/>
  </p:sldMasterIdLst>
  <p:notesMasterIdLst>
    <p:notesMasterId xmlns:r="http://schemas.openxmlformats.org/officeDocument/2006/relationships" r:id="Reb7d3b1975244cbb"/>
  </p:notesMasterIdLst>
  <p:sldIdLst>
    <p:sldId xmlns:r="http://schemas.openxmlformats.org/officeDocument/2006/relationships" id="256" r:id="R491770ae93e9411c"/>
    <p:sldId xmlns:r="http://schemas.openxmlformats.org/officeDocument/2006/relationships" id="257" r:id="R65cb6f04c98d4c21"/>
    <p:sldId xmlns:r="http://schemas.openxmlformats.org/officeDocument/2006/relationships" id="258" r:id="R9a83cf310a814c88"/>
    <p:sldId xmlns:r="http://schemas.openxmlformats.org/officeDocument/2006/relationships" id="259" r:id="R098ce331567c4d04"/>
    <p:sldId xmlns:r="http://schemas.openxmlformats.org/officeDocument/2006/relationships" id="260" r:id="R17d8c308b29749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466eb22b594027" /><Relationship Type="http://schemas.openxmlformats.org/officeDocument/2006/relationships/slideMaster" Target="/ppt/slideMasters/slideMaster1.xml" Id="R90ec75136d684e07" /><Relationship Type="http://schemas.openxmlformats.org/officeDocument/2006/relationships/notesMaster" Target="/ppt/notesMasters/notesMaster1.xml" Id="Reb7d3b1975244cbb" /><Relationship Type="http://schemas.openxmlformats.org/officeDocument/2006/relationships/presProps" Target="/ppt/presProps.xml" Id="Rb9ad59a201b94d20" /><Relationship Type="http://schemas.openxmlformats.org/officeDocument/2006/relationships/tableStyles" Target="/ppt/tableStyles.xml" Id="Rcb22558fcf9e40e0" /><Relationship Type="http://schemas.openxmlformats.org/officeDocument/2006/relationships/slide" Target="/ppt/slides/slide1.xml" Id="R491770ae93e9411c" /><Relationship Type="http://schemas.openxmlformats.org/officeDocument/2006/relationships/slide" Target="/ppt/slides/slide2.xml" Id="R65cb6f04c98d4c21" /><Relationship Type="http://schemas.openxmlformats.org/officeDocument/2006/relationships/slide" Target="/ppt/slides/slide3.xml" Id="R9a83cf310a814c88" /><Relationship Type="http://schemas.openxmlformats.org/officeDocument/2006/relationships/slide" Target="/ppt/slides/slide4.xml" Id="R098ce331567c4d04" /><Relationship Type="http://schemas.openxmlformats.org/officeDocument/2006/relationships/slide" Target="/ppt/slides/slide5.xml" Id="R17d8c308b29749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349af2fd3c43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4956b134b4444c" /><Relationship Type="http://schemas.openxmlformats.org/officeDocument/2006/relationships/notesMaster" Target="/ppt/notesMasters/notesMaster1.xml" Id="R1f9f778a365f49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63bb56bf5c4e31" /><Relationship Type="http://schemas.openxmlformats.org/officeDocument/2006/relationships/notesMaster" Target="/ppt/notesMasters/notesMaster1.xml" Id="Rfa70efdd0d6a46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90490017fa465a" /><Relationship Type="http://schemas.openxmlformats.org/officeDocument/2006/relationships/notesMaster" Target="/ppt/notesMasters/notesMaster1.xml" Id="Rf02e568fa12c48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fff58021eb4248" /><Relationship Type="http://schemas.openxmlformats.org/officeDocument/2006/relationships/notesMaster" Target="/ppt/notesMasters/notesMaster1.xml" Id="R4359e502b3fd46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8d195717f147a0" /><Relationship Type="http://schemas.openxmlformats.org/officeDocument/2006/relationships/notesMaster" Target="/ppt/notesMasters/notesMaster1.xml" Id="R1b044970c36742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UCI Steel Industry Energy Consumption, Sathishkumar V E, Shin ve Cho (2021). https://doi.org/10.24432/C52G8C (CC BY 4.0). Sayısal sonuçlar aynı teslim paketindeki çalıştırılmış Python defterinden hesaplanmıştır. Gece yarısı zaman damgaları gün sonu kabul edilmiştir.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UCI Steel Industry Energy Consumption, Sathishkumar V E, Shin ve Cho (2021). https://doi.org/10.24432/C52G8C (CC BY 4.0). Sayısal sonuçlar aynı teslim paketindeki çalıştırılmış Python defterinden hesaplanmıştır. Gece yarısı zaman damgaları gün sonu kabul edilmiştir.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UCI Steel Industry Energy Consumption, Sathishkumar V E, Shin ve Cho (2021). https://doi.org/10.24432/C52G8C (CC BY 4.0). Sayısal sonuçlar aynı teslim paketindeki çalıştırılmış Python defterinden hesaplanmıştır. Gece yarısı zaman damgaları gün sonu kabul edilmiştir.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UCI Steel Industry Energy Consumption, Sathishkumar V E, Shin ve Cho (2021). https://doi.org/10.24432/C52G8C (CC BY 4.0). Sayısal sonuçlar aynı teslim paketindeki çalıştırılmış Python defterinden hesaplanmıştır. Gece yarısı zaman damgaları gün sonu kabul edilmiştir.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UCI Steel Industry Energy Consumption, Sathishkumar V E, Shin ve Cho (2021). https://doi.org/10.24432/C52G8C (CC BY 4.0). Sayısal sonuçlar aynı teslim paketindeki çalıştırılmış Python defterinden hesaplanmıştır. Gece yarısı zaman damgaları gün sonu kabul edilmiştir.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70180b3af45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c4bc4ced941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74d4da22441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2121b4cc442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6232c350f4b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e35ef9fc24c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E521E9-4AC9-40BB-ACE6-9D4265618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986078-DFBC-4A14-B08F-6C68621724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B8E16D-5610-4C31-9BC8-6D0CC18D83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86863C-6B30-4E37-9FC4-3607DD26D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88AB30-1FEC-4F56-BEBF-46DD9E6B61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B277E8-97FA-42FA-A21A-D848CA64C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A4206A-3F14-47C9-9E0A-FF18F413FF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C4F093-718C-4602-8710-E8A77F1427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187F28-B60B-4641-91D3-839ECA9B85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1FA459-F7BE-4D28-AD3B-44FE68FE48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8e3179278a4193" /><Relationship Type="http://schemas.openxmlformats.org/officeDocument/2006/relationships/slideLayout" Target="/ppt/slideLayouts/slideLayout1.xml" Id="R30d9961e3e454ac8" /><Relationship Type="http://schemas.openxmlformats.org/officeDocument/2006/relationships/slideLayout" Target="/ppt/slideLayouts/slideLayout2.xml" Id="R0217c47441774ce9" /><Relationship Type="http://schemas.openxmlformats.org/officeDocument/2006/relationships/slideLayout" Target="/ppt/slideLayouts/slideLayout3.xml" Id="R36d57fe822e54d02" /><Relationship Type="http://schemas.openxmlformats.org/officeDocument/2006/relationships/slideLayout" Target="/ppt/slideLayouts/slideLayout4.xml" Id="Rda026df40da84ec0" /><Relationship Type="http://schemas.openxmlformats.org/officeDocument/2006/relationships/slideLayout" Target="/ppt/slideLayouts/slideLayout5.xml" Id="R46eb501d3bf5474b" /><Relationship Type="http://schemas.openxmlformats.org/officeDocument/2006/relationships/slideLayout" Target="/ppt/slideLayouts/slideLayout6.xml" Id="R0e5ee295443240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9961e3e454ac8"/>
    <p:sldLayoutId xmlns:r="http://schemas.openxmlformats.org/officeDocument/2006/relationships" id="2147483650" r:id="R0217c47441774ce9"/>
    <p:sldLayoutId xmlns:r="http://schemas.openxmlformats.org/officeDocument/2006/relationships" id="2147483651" r:id="R36d57fe822e54d02"/>
    <p:sldLayoutId xmlns:r="http://schemas.openxmlformats.org/officeDocument/2006/relationships" id="2147483652" r:id="Rda026df40da84ec0"/>
    <p:sldLayoutId xmlns:r="http://schemas.openxmlformats.org/officeDocument/2006/relationships" id="2147483653" r:id="R46eb501d3bf5474b"/>
    <p:sldLayoutId xmlns:r="http://schemas.openxmlformats.org/officeDocument/2006/relationships" id="2147483654" r:id="R0e5ee295443240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15d1ce2c9418d" /><Relationship Type="http://schemas.openxmlformats.org/officeDocument/2006/relationships/notesSlide" Target="/ppt/notesSlides/notesSlide1.xml" Id="R47efcecab5114f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e9a89def145bb" /><Relationship Type="http://schemas.openxmlformats.org/officeDocument/2006/relationships/chart" Target="/ppt/slides/charts/chart1.xml" Id="R084e254b4b5b4e6a" /><Relationship Type="http://schemas.openxmlformats.org/officeDocument/2006/relationships/notesSlide" Target="/ppt/notesSlides/notesSlide2.xml" Id="Rcdbe9c53575f4a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42f86d40d4bc2" /><Relationship Type="http://schemas.openxmlformats.org/officeDocument/2006/relationships/notesSlide" Target="/ppt/notesSlides/notesSlide3.xml" Id="Rc81ba45ef31b47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e3d3806d9403c" /><Relationship Type="http://schemas.openxmlformats.org/officeDocument/2006/relationships/notesSlide" Target="/ppt/notesSlides/notesSlide4.xml" Id="Re7d92856a4d244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50e72fe2144063" /><Relationship Type="http://schemas.openxmlformats.org/officeDocument/2006/relationships/notesSlide" Target="/ppt/notesSlides/notesSlide5.xml" Id="R730da5466a624b9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Saatlere göre ortalama tüketim (kWh)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324D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Eğitim ortalaması</c:v>
          </c:tx>
          <c:spPr>
            <a:solidFill xmlns:a="http://schemas.openxmlformats.org/drawingml/2006/main">
              <a:srgbClr val="087E8B"/>
            </a:solidFill>
          </c:spPr>
          <c:invertIfNegative val="0"/>
          <c:cat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General</c:formatCode>
                <c:ptCount val="24"/>
                <c:pt idx="0">
                  <c:v>8.6408</c:v>
                </c:pt>
                <c:pt idx="1">
                  <c:v>6.5366</c:v>
                </c:pt>
                <c:pt idx="2">
                  <c:v>4.5479</c:v>
                </c:pt>
                <c:pt idx="3">
                  <c:v>4.5014</c:v>
                </c:pt>
                <c:pt idx="4">
                  <c:v>4.4656</c:v>
                </c:pt>
                <c:pt idx="5">
                  <c:v>4.3952</c:v>
                </c:pt>
                <c:pt idx="6">
                  <c:v>4.3592</c:v>
                </c:pt>
                <c:pt idx="7">
                  <c:v>4.6294</c:v>
                </c:pt>
                <c:pt idx="8">
                  <c:v>38.2688</c:v>
                </c:pt>
                <c:pt idx="9">
                  <c:v>58.7217</c:v>
                </c:pt>
                <c:pt idx="10">
                  <c:v>55.9991</c:v>
                </c:pt>
                <c:pt idx="11">
                  <c:v>57.0645</c:v>
                </c:pt>
                <c:pt idx="12">
                  <c:v>18.7144</c:v>
                </c:pt>
                <c:pt idx="13">
                  <c:v>39.2126</c:v>
                </c:pt>
                <c:pt idx="14">
                  <c:v>56.3047</c:v>
                </c:pt>
                <c:pt idx="15">
                  <c:v>56.2556</c:v>
                </c:pt>
                <c:pt idx="16">
                  <c:v>56.381</c:v>
                </c:pt>
                <c:pt idx="17">
                  <c:v>44.8914</c:v>
                </c:pt>
                <c:pt idx="18">
                  <c:v>34.3703</c:v>
                </c:pt>
                <c:pt idx="19">
                  <c:v>39.8078</c:v>
                </c:pt>
                <c:pt idx="20">
                  <c:v>39.1932</c:v>
                </c:pt>
                <c:pt idx="21">
                  <c:v>14.9108</c:v>
                </c:pt>
                <c:pt idx="22">
                  <c:v>9.2847</c:v>
                </c:pt>
                <c:pt idx="23">
                  <c:v>8.7748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Hedef dönem bitiş saati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5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kWh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D22DB-B7BC-4217-88CD-05324D8C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Üretim tesisinde enerji tüketimi tahmini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7BB33-A334-4B18-BCA4-EED9B54F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Rana Beyza Culus     /     Python Final Projesi     /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3923E-6986-4C7D-BC42-B5004961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E8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87E8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87E8B"/>
                </a:solidFill>
                <a:latin typeface="DejaVu Sans"/>
                <a:ea typeface="DejaVu Sans"/>
                <a:cs typeface="DejaVu Sans"/>
              </a:rPr>
              <a:t>BİR SONRAKİ 15 DAKİKA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E7DD3-8149-4E31-AA0A-033430C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38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Geçmiş tüketimden</a:t>
            </a:r>
          </a:p>
          <a:p xmlns:a="http://schemas.openxmlformats.org/drawingml/2006/main">
            <a:pPr>
              <a:defRPr sz="390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kısa vadeli talep tahmini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C6BBB-8A0D-4CEC-ACEA-D7A720C9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Üretim tesisinde enerji talebinin izlenmesini ve kısa vadeli planlamayı destekleyen bir regresyon uygulaması.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65C41-E55C-4046-8432-81240D90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Hedef: 15 dakikalık enerji tüketimi (kWh)</a:t>
            </a:r>
          </a:p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Yöntem: Lineer regresyon ve son değer karşılaştırması</a:t>
            </a:r>
          </a:p>
        </p:txBody>
      </p:sp>
    </p:spTree>
    <p:extLst>
      <p:ext uri="{BB962C8B-B14F-4D97-AF65-F5344CB8AC3E}">
        <p14:creationId xmlns:p14="http://schemas.microsoft.com/office/powerpoint/2010/main" val="222348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13CDB-8C52-4258-A597-B9CB869B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Veri ve eğitim dönemindeki tüketim profili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EFEFB-5F8E-4CBF-8056-986D6223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Rana Beyza Culus     /     Python Final Projesi     /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62C95-3489-492B-8CDD-BAD18180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87E8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087E8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7E8B"/>
                </a:solidFill>
                <a:latin typeface="DejaVu Sans"/>
                <a:ea typeface="DejaVu Sans"/>
                <a:cs typeface="DejaVu Sans"/>
              </a:rPr>
              <a:t>35.040 kayıt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DD3F4-8460-4E67-864A-B0F82D5E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810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2018 yılına ait çelik tesisi verisi</a:t>
            </a:r>
          </a:p>
          <a:p xmlns:a="http://schemas.openxmlformats.org/drawingml/2006/main">
            <a:pPr>
              <a:defRPr sz="1800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11 sütun, 15 dakikalık ölçüm</a:t>
            </a:r>
          </a:p>
          <a:p xmlns:a="http://schemas.openxmlformats.org/drawingml/2006/main">
            <a:pPr>
              <a:defRPr sz="1800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Eksik, tam kopya ve negatif tüketim yok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0AE29-827D-4427-BFCF-670B1D06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Zaman varsayımı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6D84B-3C6D-42B5-A883-A402DC4D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810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Gün sonundaki 00:00 kayıtları ertesi güne taşındı. Tüm aralıklar 15 dakika olarak doğrulandı.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BE660FF-9D76-4D33-BAD4-2599B6E91777}"/>
              </a:ext>
            </a:extLst>
          </p:cNvPr>
          <p:cNvGraphicFramePr/>
          <p:nvPr/>
        </p:nvGraphicFramePr>
        <p:xfrm>
          <a:off xmlns:a="http://schemas.openxmlformats.org/drawingml/2006/main" x="4762500" y="1524000"/>
          <a:ext xmlns:a="http://schemas.openxmlformats.org/drawingml/2006/main" cx="6762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4e254b4b5b4e6a"/>
          </a:graphicData>
        </a:graphic>
      </p:graphicFrame>
    </p:spTree>
    <p:extLst>
      <p:ext uri="{BB962C8B-B14F-4D97-AF65-F5344CB8AC3E}">
        <p14:creationId xmlns:p14="http://schemas.microsoft.com/office/powerpoint/2010/main" val="1272436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D4486-9989-4AF2-9845-18A81AE6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Geçmiş bilgileri kullanan model ve zaman ayrımı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7866D-0549-40C7-A105-9E3C5A69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Rana Beyza Culus     /     Python Final Projesi     /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6C84E-07E0-4AE1-87B5-E0E53E0D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E8B"/>
                </a:solidFill>
                <a:latin typeface="DejaVu Sans"/>
                <a:ea typeface="DejaVu Sans"/>
                <a:cs typeface="DejaVu Sans"/>
              </a:rPr>
              <a:t>Beş tahmin girdisi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9BF2D-8ECE-4EE4-A43F-F9705CA5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Önceki 15 ve 30 dakikalık tüketim</a:t>
            </a:r>
          </a:p>
          <a:p xmlns:a="http://schemas.openxmlformats.org/drawingml/2006/main">
            <a:pPr>
              <a:defRPr sz="2100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Önceki dört dönemin tüketim ortalaması</a:t>
            </a:r>
          </a:p>
          <a:p xmlns:a="http://schemas.openxmlformats.org/drawingml/2006/main">
            <a:pPr>
              <a:defRPr sz="2100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Hedef dönem bitiş saati ve hafta sonu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5CC33-CC81-455E-97A6-054223086E54}"/>
              </a:ext>
            </a:extLst>
          </p:cNvPr>
          <p:cNvGraphicFramePr/>
          <p:nvPr/>
        </p:nvGraphicFramePr>
        <p:xfrm>
          <a:off xmlns:a="http://schemas.openxmlformats.org/drawingml/2006/main" x="609600" y="3562350"/>
          <a:ext xmlns:a="http://schemas.openxmlformats.org/drawingml/2006/main" cx="10953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619250"/>
                <a:gridCol w="7143750"/>
              </a:tblGrid>
              <a:tr h="523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Bölüm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5EB"/>
                      </a:solidFill>
                      <a:prstDash val="solid"/>
                    </a:lnL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Kayıt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Dönem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Eğitim (%80)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5EB"/>
                      </a:solidFill>
                      <a:prstDash val="solid"/>
                    </a:lnL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28.028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01.01.2018 01:15 - 20.10.2018 00:00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(%20)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5EB"/>
                      </a:solidFill>
                      <a:prstDash val="solid"/>
                    </a:lnL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7.008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20.10.2018 00:15 - 01.01.2019 00:00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7CF1F-5B36-4FED-8CA8-CE9D9B9A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Sıra korunur (shuffle=False). İlk dört kayıt geçmiş yetersizliğinden çıkarılır.</a:t>
            </a:r>
          </a:p>
          <a:p xmlns:a="http://schemas.openxmlformats.org/drawingml/2006/main">
            <a:pPr>
              <a:defRPr sz="16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Testte her adımda önceki gerçek ölçümler kullanılabilir.</a:t>
            </a:r>
          </a:p>
        </p:txBody>
      </p:sp>
    </p:spTree>
    <p:extLst>
      <p:ext uri="{BB962C8B-B14F-4D97-AF65-F5344CB8AC3E}">
        <p14:creationId xmlns:p14="http://schemas.microsoft.com/office/powerpoint/2010/main" val="6170792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E0F8C-A4D6-4E9A-A6ED-EB5D296E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Test sonuçları ve basit tahminle karşılaştırma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E17C2-ECCB-49F2-AE02-6B2459A2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Rana Beyza Culus     /     Python Final Projesi     /     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44411-7571-4A02-8483-0F4FBD296B62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53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2238375"/>
                <a:gridCol w="2238375"/>
                <a:gridCol w="2238375"/>
              </a:tblGrid>
              <a:tr h="5476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 / dönem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5EB"/>
                      </a:solidFill>
                      <a:prstDash val="solid"/>
                    </a:lnL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MAE (kWh)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RMSE (kWh)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Lineer / Eğitim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5EB"/>
                      </a:solidFill>
                      <a:prstDash val="solid"/>
                    </a:lnL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7.4863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13.9551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0.8308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Lineer / 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5EB"/>
                      </a:solidFill>
                      <a:prstDash val="solid"/>
                    </a:lnL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6.4522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12.0609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0.8522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Son değer / 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5EB"/>
                      </a:solidFill>
                      <a:prstDash val="solid"/>
                    </a:lnL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5.4446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12.3245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0.8457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F0E9B-4FF9-4853-9C77-1314C4F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87E8B"/>
                </a:solidFill>
                <a:latin typeface="DejaVu Sans"/>
                <a:ea typeface="DejaVu Sans"/>
                <a:cs typeface="DejaVu Sans"/>
              </a:rPr>
              <a:t>RMSE %2,14 daha düşük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51C15-18E1-4D50-B262-601809F3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Lineer model büyük hataları biraz azaltıyor. Ancak MAE, son değer</a:t>
            </a:r>
          </a:p>
          <a:p xmlns:a="http://schemas.openxmlformats.org/drawingml/2006/main">
            <a:pPr>
              <a:defRPr sz="2025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tahmininden %18,51 daha yüksek. Model her ölçütte üstün değil.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92666-D73B-4682-92A8-47B1C6A1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R² bir doğruluk yüzdesi değildir. Son değer tahmini, önceki tüketimi tekrar eder.</a:t>
            </a:r>
          </a:p>
        </p:txBody>
      </p:sp>
    </p:spTree>
    <p:extLst>
      <p:ext uri="{BB962C8B-B14F-4D97-AF65-F5344CB8AC3E}">
        <p14:creationId xmlns:p14="http://schemas.microsoft.com/office/powerpoint/2010/main" val="2101803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B9E3B-3153-42A5-965B-97245F39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Mini uygulama ve kullanım sınırları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77A3E-011A-4FCA-8D49-5A5DEDD9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Rana Beyza Culus     /     Python Final Projesi     /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80915-1CE7-4C24-A206-DD7B37F2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E8B"/>
                </a:solidFill>
                <a:latin typeface="DejaVu Sans"/>
                <a:ea typeface="DejaVu Sans"/>
                <a:cs typeface="DejaVu Sans"/>
              </a:rPr>
              <a:t>Temsili yeni girdiler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C44D6-1B1E-4636-8037-274AFD0EFC5B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5375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619250"/>
                <a:gridCol w="1952625"/>
                <a:gridCol w="1619250"/>
                <a:gridCol w="1952625"/>
                <a:gridCol w="2190750"/>
              </a:tblGrid>
              <a:tr h="4857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 dk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5EB"/>
                      </a:solidFill>
                      <a:prstDash val="solid"/>
                    </a:lnL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 dk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saat ort.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Saat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Hafta sonu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Tahmin kWh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T w="9525">
                      <a:solidFill>
                        <a:srgbClr val="DBE5EB"/>
                      </a:solidFill>
                      <a:prstDash val="solid"/>
                    </a:lnT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5EB"/>
                      </a:solidFill>
                      <a:prstDash val="solid"/>
                    </a:lnL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6.344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5EB"/>
                      </a:solidFill>
                      <a:prstDash val="solid"/>
                    </a:lnL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10.25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52.974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5EB"/>
                      </a:solidFill>
                      <a:prstDash val="solid"/>
                    </a:lnL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8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8.480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5EB"/>
                      </a:solidFill>
                      <a:prstDash val="solid"/>
                    </a:lnR>
                    <a:lnB w="9525">
                      <a:solidFill>
                        <a:srgbClr val="DBE5EB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EB472-50F3-40A0-85A8-9BC0EF04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Tüketim girdileri kWh, saat hedef dönem bitiş saatidir.</a:t>
            </a:r>
          </a:p>
          <a:p xmlns:a="http://schemas.openxmlformats.org/drawingml/2006/main">
            <a:pPr>
              <a:defRPr sz="1725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Fonksiyon geçersiz girdileri denetleyip tahmin üretir. Senaryoların</a:t>
            </a:r>
          </a:p>
          <a:p xmlns:a="http://schemas.openxmlformats.org/drawingml/2006/main">
            <a:pPr>
              <a:defRPr sz="1725" b="0">
                <a:solidFill>
                  <a:srgbClr val="2638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84B"/>
                </a:solidFill>
                <a:latin typeface="DejaVu Sans"/>
                <a:ea typeface="DejaVu Sans"/>
                <a:cs typeface="DejaVu Sans"/>
              </a:rPr>
              <a:t>gerçek hedefleri bilinmediği için doğrulukları hesaplanamaz.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A60B3-65F4-4535-80C6-8F9D807F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Ani üretim değişimleri ve tek tesis verisi genellemeyi sınırlar.</a:t>
            </a:r>
          </a:p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Sonraki adım: ileri zamanlı doğrulama ve üretim programı bilgisi.</a:t>
            </a:r>
          </a:p>
        </p:txBody>
      </p:sp>
    </p:spTree>
    <p:extLst>
      <p:ext uri="{BB962C8B-B14F-4D97-AF65-F5344CB8AC3E}">
        <p14:creationId xmlns:p14="http://schemas.microsoft.com/office/powerpoint/2010/main" val="2064067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2026-10-15T11:15:05.0470000Z</dcterms:created>
  <dcterms:modified xsi:type="dcterms:W3CDTF">2026-10-15T11:15:05.0480000Z</dcterms:modified>
</coreProperties>
</file>